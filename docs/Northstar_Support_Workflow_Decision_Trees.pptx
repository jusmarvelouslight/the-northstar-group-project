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8760"/>
            <a:ext cx="6217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ptos"/>
              </a:rPr>
              <a:t>NORTHSTAR</a:t>
            </a:r>
            <a:endParaRPr sz="38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6217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2563EB"/>
                </a:solidFill>
                <a:latin typeface="Aptos"/>
              </a:rPr>
              <a:t>RETAIL</a:t>
            </a:r>
            <a:endParaRPr sz="3800"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2971800"/>
            <a:ext cx="6949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ptos"/>
              </a:rPr>
              <a:t>Customer Support Workflow Decision Trees</a:t>
            </a:r>
            <a:endParaRPr sz="1800" b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3456432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Order Status  •  Returns &amp; Refunds</a:t>
            </a:r>
            <a:endParaRPr sz="11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24688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TEAM DELIVERABLE</a:t>
            </a:r>
            <a:endParaRPr sz="1000"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0" y="256032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Prepared for the Northstar Sprint</a:t>
            </a:r>
            <a:endParaRPr sz="12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301752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PLP Software Engineering Evaluation</a:t>
            </a:r>
            <a:endParaRPr sz="9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NORTHSTAR RETAIL  |  SUPPORT WORKFLOW  |  PLP SPRINT</a:t>
            </a:r>
            <a:endParaRPr sz="750" b="1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01 / CONTEXT</a:t>
            </a:r>
            <a:endParaRPr sz="900"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What the sprint requires</a:t>
            </a:r>
            <a:endParaRPr sz="25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Northstar Retail's support problem is centered on three repetitive ticket categories.</a:t>
            </a:r>
            <a:endParaRPr sz="11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  <a:endParaRPr sz="900" b="1">
              <a:solidFill>
                <a:srgbClr val="64748B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566928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ORDER STATUS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2697480"/>
            <a:ext cx="3108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"Where is my order?"</a:t>
            </a:r>
            <a:endParaRPr sz="15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3273552"/>
            <a:ext cx="3063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Self-service flow / automated decision tree</a:t>
            </a:r>
            <a:endParaRPr sz="10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429000" cy="566928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RETURNS &amp; REFUNDS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99431" y="2697480"/>
            <a:ext cx="3108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"How do I return this?"</a:t>
            </a:r>
            <a:endParaRPr sz="15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9431" y="3273552"/>
            <a:ext cx="3063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Self-service flow / automated decision tree</a:t>
            </a:r>
            <a:endParaRPr sz="10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83879" y="1965960"/>
            <a:ext cx="3429000" cy="566928"/>
          </a:xfrm>
          <a:prstGeom prst="roundRect">
            <a:avLst/>
          </a:prstGeom>
          <a:solidFill>
            <a:srgbClr val="334155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STOCK AVAILABILITY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48471" y="2697480"/>
            <a:ext cx="3108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"Is this back in stock?"</a:t>
            </a:r>
            <a:endParaRPr sz="15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48471" y="3273552"/>
            <a:ext cx="3063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Self-service flow / automated decision tree</a:t>
            </a:r>
            <a:endParaRPr sz="10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4343400"/>
            <a:ext cx="27432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OUR ASSIGNED DELIVERABLE</a:t>
            </a:r>
            <a:endParaRPr sz="1000"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5010912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Two workflow decision trees: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5376672"/>
            <a:ext cx="5486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tos"/>
              </a:rPr>
              <a:t>01  Order Status     02  Returns &amp; Refunds</a:t>
            </a:r>
            <a:endParaRPr sz="1300" b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NORTHSTAR RETAIL  |  SUPPORT WORKFLOW  |  PLP SPRINT</a:t>
            </a:r>
            <a:endParaRPr sz="750" b="1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02 / DECISION TREE</a:t>
            </a:r>
            <a:endParaRPr sz="900"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Order Status | Support Workflow</a:t>
            </a:r>
            <a:endParaRPr sz="25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Self-service path based on whether an Order ID is available.</a:t>
            </a:r>
            <a:endParaRPr sz="11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  <a:endParaRPr sz="900" b="1">
              <a:solidFill>
                <a:srgbClr val="64748B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98848" y="1481328"/>
            <a:ext cx="3200400" cy="53035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CUSTOMER MESSAGE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099048" y="2011680"/>
            <a:ext cx="0" cy="32004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98848" y="2331720"/>
            <a:ext cx="3200400" cy="53035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CLASSIFY QUESTION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099048" y="2862072"/>
            <a:ext cx="0" cy="292608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4800600" y="3154680"/>
            <a:ext cx="2606040" cy="1143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ORDER
STATUS?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099048" y="4297680"/>
            <a:ext cx="0" cy="22860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4800600" y="4526280"/>
            <a:ext cx="2606040" cy="1143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ORDER ID
PRESENT?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 flipH="1">
            <a:off x="3246120" y="5532120"/>
            <a:ext cx="224028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20840" y="5532120"/>
            <a:ext cx="224028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66160" y="5239512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Aptos"/>
              </a:rPr>
              <a:t>YES</a:t>
            </a:r>
            <a:endParaRPr sz="900" b="1">
              <a:solidFill>
                <a:srgbClr val="16A34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09560" y="5239512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Aptos"/>
              </a:rPr>
              <a:t>NO</a:t>
            </a:r>
            <a:endParaRPr sz="900" b="1">
              <a:solidFill>
                <a:srgbClr val="DC2626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7280" y="5715000"/>
            <a:ext cx="2834640" cy="45720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LOOK UP ORDER STATUS</a:t>
            </a:r>
            <a:endParaRPr sz="1100" b="1">
              <a:solidFill>
                <a:srgbClr val="16A34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5715000"/>
            <a:ext cx="2834640" cy="4572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Aptos"/>
              </a:rPr>
              <a:t>REQUEST ORDER ID</a:t>
            </a:r>
            <a:endParaRPr sz="1100" b="1">
              <a:solidFill>
                <a:srgbClr val="DC2626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7320" y="6199632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→ Order status response</a:t>
            </a:r>
            <a:endParaRPr sz="85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49640" y="6199632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→ Order ID requested</a:t>
            </a:r>
            <a:endParaRPr sz="85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NORTHSTAR RETAIL  |  SUPPORT WORKFLOW  |  PLP SPRINT</a:t>
            </a:r>
            <a:endParaRPr sz="750" b="1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03 / DECISION TREE</a:t>
            </a:r>
            <a:endParaRPr sz="900"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Returns &amp; Refunds | Support Workflow</a:t>
            </a:r>
            <a:endParaRPr sz="25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The sprint's starter flow uses purchase timing to determine the return response.</a:t>
            </a:r>
            <a:endParaRPr sz="11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  <a:endParaRPr sz="900" b="1">
              <a:solidFill>
                <a:srgbClr val="64748B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98848" y="1417320"/>
            <a:ext cx="3200400" cy="53035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CUSTOMER MESSAGE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099048" y="1947672"/>
            <a:ext cx="0" cy="384048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98848" y="2331720"/>
            <a:ext cx="3200400" cy="53035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RETURNS &amp; REFUNDS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099048" y="2862072"/>
            <a:ext cx="0" cy="292608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4709160" y="3154680"/>
            <a:ext cx="2788920" cy="12344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PURCHASED
WITHIN 30 DAYS?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 flipH="1">
            <a:off x="3794760" y="4389120"/>
            <a:ext cx="2304288" cy="68580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9048" y="4389120"/>
            <a:ext cx="2313432" cy="68580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43400" y="4590288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Aptos"/>
              </a:rPr>
              <a:t>YES</a:t>
            </a:r>
            <a:endParaRPr sz="900" b="1">
              <a:solidFill>
                <a:srgbClr val="16A34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60920" y="4590288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Aptos"/>
              </a:rPr>
              <a:t>NO</a:t>
            </a:r>
            <a:endParaRPr sz="900" b="1">
              <a:solidFill>
                <a:srgbClr val="DC2626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234440" y="5120640"/>
            <a:ext cx="3246120" cy="59436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ELIGIBLE FOR FULL REFUND</a:t>
            </a:r>
            <a:endParaRPr sz="1100" b="1">
              <a:solidFill>
                <a:srgbClr val="16A34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80960" y="5120640"/>
            <a:ext cx="3246120" cy="59436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Aptos"/>
              </a:rPr>
              <a:t>STANDARD RETURN CLOSED</a:t>
            </a:r>
            <a:endParaRPr sz="1100" b="1">
              <a:solidFill>
                <a:srgbClr val="DC262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89888" y="5870448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Provide free prepaid return label</a:t>
            </a:r>
            <a:endParaRPr sz="85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18120" y="5870448"/>
            <a:ext cx="2971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May qualify for store credit upon review</a:t>
            </a:r>
            <a:endParaRPr sz="85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NORTHSTAR RETAIL  |  SUPPORT WORKFLOW  |  PLP SPRINT</a:t>
            </a:r>
            <a:endParaRPr sz="750" b="1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04 / TRACEABILITY</a:t>
            </a:r>
            <a:endParaRPr sz="900"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From AI-assisted reference to team-built portal</a:t>
            </a:r>
            <a:endParaRPr sz="25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The decision trees are a project artifact supporting the collaborative build.</a:t>
            </a:r>
            <a:endParaRPr sz="11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  <a:endParaRPr sz="900" b="1">
              <a:solidFill>
                <a:srgbClr val="64748B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66928" cy="566928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08760" y="1627632"/>
            <a:ext cx="1920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Reference</a:t>
            </a:r>
            <a:endParaRPr sz="14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46120" y="1627632"/>
            <a:ext cx="78638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tos"/>
              </a:rPr>
              <a:t>AI-assisted examples and base workflow information were used as a starting point.</a:t>
            </a:r>
            <a:endParaRPr sz="1100" b="0">
              <a:solidFill>
                <a:srgbClr val="334155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005840" y="2212848"/>
            <a:ext cx="0" cy="36576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761488"/>
            <a:ext cx="566928" cy="566928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2743200"/>
            <a:ext cx="1920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Team Build</a:t>
            </a:r>
            <a:endParaRPr sz="14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46120" y="2743200"/>
            <a:ext cx="78638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tos"/>
              </a:rPr>
              <a:t>The team branches into separate implementation tasks: UI, workflows, documentation and testing.</a:t>
            </a:r>
            <a:endParaRPr sz="1100" b="0">
              <a:solidFill>
                <a:srgbClr val="334155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3328416"/>
            <a:ext cx="0" cy="36576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877056"/>
            <a:ext cx="566928" cy="566928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8760" y="3858768"/>
            <a:ext cx="1920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GitHub Audit</a:t>
            </a:r>
            <a:endParaRPr sz="14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46120" y="3858768"/>
            <a:ext cx="78638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tos"/>
              </a:rPr>
              <a:t>Artifacts and code are committed to the shared repository with visible contribution history.</a:t>
            </a:r>
            <a:endParaRPr sz="1100" b="0">
              <a:solidFill>
                <a:srgbClr val="334155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005840" y="4443984"/>
            <a:ext cx="0" cy="36576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4992624"/>
            <a:ext cx="566928" cy="566928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974336"/>
            <a:ext cx="1920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Live MVP</a:t>
            </a:r>
            <a:endParaRPr sz="14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46120" y="4974336"/>
            <a:ext cx="78638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tos"/>
              </a:rPr>
              <a:t>The final portal demonstrates working Order Status and Returns &amp; Refunds self-service flows.</a:t>
            </a:r>
            <a:endParaRPr sz="1100" b="0">
              <a:solidFill>
                <a:srgbClr val="334155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005840" y="5559552"/>
            <a:ext cx="0" cy="36576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NORTHSTAR RETAIL  |  SUPPORT WORKFLOW  |  PLP SPRINT</a:t>
            </a:r>
            <a:endParaRPr sz="750" b="1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926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05 / HANDOFF</a:t>
            </a:r>
            <a:endParaRPr sz="900" b="1">
              <a:solidFill>
                <a:srgbClr val="2563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What the next contributor can use</a:t>
            </a:r>
            <a:endParaRPr sz="25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The decision trees translate the support requirements into implementation-ready logic.</a:t>
            </a:r>
            <a:endParaRPr sz="1100" b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  <a:endParaRPr sz="900" b="1">
              <a:solidFill>
                <a:srgbClr val="64748B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246120" cy="5943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ORDER STATUS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834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Check for Order ID
• If present → look up status
• If missing → request Order ID
• Return a customer-facing response</a:t>
            </a:r>
            <a:endParaRPr sz="1200" b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1691640"/>
            <a:ext cx="3246120" cy="5943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RETURNS &amp; REFUNDS</a:t>
            </a:r>
            <a:endParaRPr sz="13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09160" y="2514600"/>
            <a:ext cx="2834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• Check purchase timing
• Within 30 days → full refund path
• Over 30 days → return closed / review
• Return the appropriate response</a:t>
            </a:r>
            <a:endParaRPr sz="1200" b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38160" y="1691640"/>
            <a:ext cx="3246120" cy="5943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NEXT TEAM STEP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6760" y="2514600"/>
            <a:ext cx="278892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Use these flows to implement the corresponding HTML/JavaScript interactions and commit the artifact to the shared repository.</a:t>
            </a:r>
            <a:endParaRPr sz="1200" b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1828800" cy="45720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6A34A"/>
                </a:solidFill>
                <a:latin typeface="Aptos"/>
              </a:rPr>
              <a:t>DELIVERABLE STATUS</a:t>
            </a:r>
            <a:endParaRPr sz="950" b="1">
              <a:solidFill>
                <a:srgbClr val="16A34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80360" y="4773168"/>
            <a:ext cx="7772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Decision-tree diagrams prepared for team review and GitHub handoff.</a:t>
            </a:r>
            <a:endParaRPr sz="12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NORTHSTAR RETAIL  |  SUPPORT WORKFLOW  |  PLP SPRINT</a:t>
            </a:r>
            <a:endParaRPr sz="750" b="1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2708</Words>
  <Application>WPS Presentation</Application>
  <PresentationFormat>On-screen Show (4:3)</PresentationFormat>
  <Paragraphs>168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Arial</vt:lpstr>
      <vt:lpstr>Aptos</vt:lpstr>
      <vt:lpstr>Segoe UI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HomePC</cp:lastModifiedBy>
  <cp:revision>3</cp:revision>
  <dcterms:created xsi:type="dcterms:W3CDTF">2013-01-27T09:14:00Z</dcterms:created>
  <dcterms:modified xsi:type="dcterms:W3CDTF">2026-08-15T09:17:05Z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846E1AE9086348498D7FC22BCA95C936_12</vt:lpwstr>
  </property>
  <property fmtid="{D5CDD505-2E9C-101B-9397-08002B2CF9AE}" pid="3" name="KSOProductBuildVer">
    <vt:lpwstr>1033-12.1.0.28032</vt:lpwstr>
  </property>
</Properties>
</file>